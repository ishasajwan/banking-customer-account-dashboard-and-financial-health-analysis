
<file path=[Content_Types].xml><?xml version="1.0" encoding="utf-8"?>
<Types xmlns="http://schemas.openxmlformats.org/package/2006/content-types">
  <Override PartName="/ppt/slides/slide6.xml" ContentType="application/vnd.openxmlformats-officedocument.presentationml.slide+xml"/>
  <Override PartName="/ppt/tags/tag6.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Default Extension="svg" ContentType="image/svg+xml"/>
  <Override PartName="/ppt/slideMasters/slideMaster1.xml" ContentType="application/vnd.openxmlformats-officedocument.presentationml.slideMaster+xml"/>
  <Override PartName="/ppt/slides/slide4.xml" ContentType="application/vnd.openxmlformats-officedocument.presentationml.slide+xml"/>
  <Override PartName="/ppt/tags/tag4.xml" ContentType="application/vnd.openxmlformats-officedocument.presentationml.tags+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docProps/core.xml" ContentType="application/vnd.openxmlformats-package.core-properties+xml"/>
  <Override PartName="/ppt/slides/slide5.xml" ContentType="application/vnd.openxmlformats-officedocument.presentationml.slide+xml"/>
  <Default Extension="png" ContentType="image/png"/>
  <Override PartName="/ppt/notesSlides/notesSlide1.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tags/tag5.xml" ContentType="application/vnd.openxmlformats-officedocument.presentationml.tag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DF3ED"/>
    <a:srgbClr val="CEE3FA"/>
    <a:srgbClr val="1565C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client id="{DDC0B4EE-2D5D-447B-AE11-6BA75CAE74F0}" v="57" dt="2026-02-19T11:04:26.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611"/>
    <p:restoredTop sz="94610"/>
  </p:normalViewPr>
  <p:slideViewPr>
    <p:cSldViewPr snapToGrid="0" snapToObjects="1">
      <p:cViewPr varScale="1">
        <p:scale>
          <a:sx n="115" d="100"/>
          <a:sy n="115" d="100"/>
        </p:scale>
        <p:origin x="-514" y="-72"/>
      </p:cViewPr>
      <p:guideLst>
        <p:guide orient="horz" pos="612"/>
        <p:guide orient="horz" pos="852"/>
        <p:guide pos="144"/>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xmlns=""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xmlns=""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xmlns="">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xmlns=""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xmlns=""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xmlns=""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xmlns=""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xmlns=""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xmlns=""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xmlns=""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xmlns=""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image" Target="../media/image3.sv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xmlns=""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xmlns=""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xmlns=""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xmlns=""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xmlns=""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xmlns=""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xmlns=""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xmlns=""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xmlns=""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xmlns=""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xmlns=""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xmlns=""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xmlns=""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xmlns=""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xmlns=""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xmlns=""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xmlns=""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xmlns=""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xmlns=""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xmlns=""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xmlns=""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xmlns=""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xmlns=""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xmlns=""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xmlns=""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xmlns=""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xmlns=""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xmlns=""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xmlns=""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xmlns=""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xmlns=""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xmlns=""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xmlns=""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xmlns="" id="{EEE29F0A-1253-B8CE-E742-41B8B6EB922D}"/>
              </a:ext>
            </a:extLst>
          </p:cNvPr>
          <p:cNvSpPr txBox="1"/>
          <p:nvPr/>
        </p:nvSpPr>
        <p:spPr>
          <a:xfrm>
            <a:off x="854979" y="3645023"/>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xmlns="" id="{2E9FAC26-1E84-D690-0FD4-B1A364AF40DE}"/>
              </a:ext>
            </a:extLst>
          </p:cNvPr>
          <p:cNvSpPr txBox="1"/>
          <p:nvPr/>
        </p:nvSpPr>
        <p:spPr>
          <a:xfrm>
            <a:off x="854979" y="3806607"/>
            <a:ext cx="1633432" cy="227435"/>
          </a:xfrm>
          <a:prstGeom prst="rect">
            <a:avLst/>
          </a:prstGeom>
        </p:spPr>
        <p:txBody>
          <a:bodyPr lIns="0" tIns="0" rIns="0" bIns="0" rtlCol="0" anchor="t">
            <a:spAutoFit/>
          </a:bodyPr>
          <a:lstStyle/>
          <a:p>
            <a:pPr>
              <a:lnSpc>
                <a:spcPts val="2038"/>
              </a:lnSpc>
            </a:pPr>
            <a:r>
              <a:rPr lang="en-US" sz="1200" b="1" dirty="0" err="1" smtClean="0">
                <a:solidFill>
                  <a:srgbClr val="0D358D"/>
                </a:solidFill>
                <a:latin typeface="Arial" panose="020B0604020202020204" pitchFamily="34" charset="0"/>
                <a:ea typeface="Aileron Bold"/>
                <a:cs typeface="Arial" panose="020B0604020202020204" pitchFamily="34" charset="0"/>
                <a:sym typeface="Aileron Bold"/>
              </a:rPr>
              <a:t>Isha</a:t>
            </a:r>
            <a:r>
              <a:rPr lang="en-US" sz="1200" b="1" dirty="0" smtClean="0">
                <a:solidFill>
                  <a:srgbClr val="0D358D"/>
                </a:solidFill>
                <a:latin typeface="Arial" panose="020B0604020202020204" pitchFamily="34" charset="0"/>
                <a:ea typeface="Aileron Bold"/>
                <a:cs typeface="Arial" panose="020B0604020202020204" pitchFamily="34" charset="0"/>
                <a:sym typeface="Aileron Bold"/>
              </a:rPr>
              <a:t> </a:t>
            </a:r>
            <a:r>
              <a:rPr lang="en-US" sz="1200" b="1" dirty="0" err="1" smtClean="0">
                <a:solidFill>
                  <a:srgbClr val="0D358D"/>
                </a:solidFill>
                <a:latin typeface="Arial" panose="020B0604020202020204" pitchFamily="34" charset="0"/>
                <a:ea typeface="Aileron Bold"/>
                <a:cs typeface="Arial" panose="020B0604020202020204" pitchFamily="34" charset="0"/>
                <a:sym typeface="Aileron Bold"/>
              </a:rPr>
              <a:t>Sajwan</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0" name="Picture 49" descr="A blue circle with a person and a envelope in it&#10;&#10;AI-generated content may be incorrect.">
            <a:extLst>
              <a:ext uri="{FF2B5EF4-FFF2-40B4-BE49-F238E27FC236}">
                <a16:creationId xmlns:a16="http://schemas.microsoft.com/office/drawing/2014/main" xmlns="" id="{C926F708-70B7-B0DB-A148-0FA2830D925D}"/>
              </a:ext>
            </a:extLst>
          </p:cNvPr>
          <p:cNvPicPr>
            <a:picLocks noChangeAspect="1"/>
          </p:cNvPicPr>
          <p:nvPr/>
        </p:nvPicPr>
        <p:blipFill>
          <a:blip r:embed="rId6"/>
          <a:srcRect l="26757" t="2453" r="27842" b="53701"/>
          <a:stretch>
            <a:fillRect/>
          </a:stretch>
        </p:blipFill>
        <p:spPr>
          <a:xfrm>
            <a:off x="429808" y="3639905"/>
            <a:ext cx="395331" cy="381795"/>
          </a:xfrm>
          <a:prstGeom prst="rect">
            <a:avLst/>
          </a:prstGeom>
        </p:spPr>
      </p:pic>
      <p:sp>
        <p:nvSpPr>
          <p:cNvPr id="41" name="TextBox 41">
            <a:extLst>
              <a:ext uri="{FF2B5EF4-FFF2-40B4-BE49-F238E27FC236}">
                <a16:creationId xmlns:a16="http://schemas.microsoft.com/office/drawing/2014/main" xmlns="" id="{3403BDBE-05E2-50C5-0F55-4F0483352E2C}"/>
              </a:ext>
            </a:extLst>
          </p:cNvPr>
          <p:cNvSpPr txBox="1"/>
          <p:nvPr/>
        </p:nvSpPr>
        <p:spPr>
          <a:xfrm>
            <a:off x="3176086" y="3642226"/>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xmlns="" id="{B84F91E2-C42E-10B3-A03A-88AA58AF1258}"/>
              </a:ext>
            </a:extLst>
          </p:cNvPr>
          <p:cNvSpPr txBox="1"/>
          <p:nvPr/>
        </p:nvSpPr>
        <p:spPr>
          <a:xfrm>
            <a:off x="3176086" y="3803810"/>
            <a:ext cx="2272871" cy="227435"/>
          </a:xfrm>
          <a:prstGeom prst="rect">
            <a:avLst/>
          </a:prstGeom>
        </p:spPr>
        <p:txBody>
          <a:bodyPr lIns="0" tIns="0" rIns="0" bIns="0" rtlCol="0" anchor="t">
            <a:spAutoFit/>
          </a:bodyPr>
          <a:lstStyle/>
          <a:p>
            <a:pPr>
              <a:lnSpc>
                <a:spcPts val="2038"/>
              </a:lnSpc>
            </a:pPr>
            <a:r>
              <a:rPr lang="en-US" sz="1200" b="1" dirty="0" smtClean="0">
                <a:solidFill>
                  <a:srgbClr val="0D358D"/>
                </a:solidFill>
                <a:latin typeface="Arial" panose="020B0604020202020204" pitchFamily="34" charset="0"/>
                <a:ea typeface="Aileron Bold"/>
                <a:cs typeface="Arial" panose="020B0604020202020204" pitchFamily="34" charset="0"/>
                <a:sym typeface="Aileron Bold"/>
              </a:rPr>
              <a:t>ishasajwan</a:t>
            </a:r>
            <a:r>
              <a:rPr lang="en-US" sz="1200" b="1" dirty="0" smtClean="0">
                <a:solidFill>
                  <a:srgbClr val="0D358D"/>
                </a:solidFill>
                <a:latin typeface="Arial" panose="020B0604020202020204" pitchFamily="34" charset="0"/>
                <a:ea typeface="Aileron Bold"/>
                <a:cs typeface="Arial" panose="020B0604020202020204" pitchFamily="34" charset="0"/>
                <a:sym typeface="Aileron Bold"/>
              </a:rPr>
              <a:t>05@gmail.com</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1" name="Picture 50" descr="A blue circle with a person and a envelope in it&#10;&#10;AI-generated content may be incorrect.">
            <a:extLst>
              <a:ext uri="{FF2B5EF4-FFF2-40B4-BE49-F238E27FC236}">
                <a16:creationId xmlns:a16="http://schemas.microsoft.com/office/drawing/2014/main" xmlns="" id="{EC8FEF14-C75E-1155-0600-B4343B3F57F8}"/>
              </a:ext>
            </a:extLst>
          </p:cNvPr>
          <p:cNvPicPr>
            <a:picLocks noChangeAspect="1"/>
          </p:cNvPicPr>
          <p:nvPr/>
        </p:nvPicPr>
        <p:blipFill>
          <a:blip r:embed="rId6"/>
          <a:srcRect l="26859" t="52379" r="26874" b="2349"/>
          <a:stretch>
            <a:fillRect/>
          </a:stretch>
        </p:blipFill>
        <p:spPr>
          <a:xfrm>
            <a:off x="2747249" y="3631981"/>
            <a:ext cx="398279" cy="389719"/>
          </a:xfrm>
          <a:prstGeom prst="rect">
            <a:avLst/>
          </a:prstGeom>
        </p:spPr>
      </p:pic>
      <p:grpSp>
        <p:nvGrpSpPr>
          <p:cNvPr id="66" name="Group 65">
            <a:extLst>
              <a:ext uri="{FF2B5EF4-FFF2-40B4-BE49-F238E27FC236}">
                <a16:creationId xmlns:a16="http://schemas.microsoft.com/office/drawing/2014/main" xmlns=""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xmlns=""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xmlns=""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200" b="1" dirty="0" err="1" smtClean="0">
                  <a:solidFill>
                    <a:srgbClr val="0D358D"/>
                  </a:solidFill>
                  <a:latin typeface="Arial" panose="020B0604020202020204" pitchFamily="34" charset="0"/>
                  <a:ea typeface="Aileron Bold"/>
                  <a:cs typeface="Arial" panose="020B0604020202020204" pitchFamily="34" charset="0"/>
                  <a:sym typeface="Aileron Bold"/>
                </a:rPr>
                <a:t>Umamaheshwari</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a16="http://schemas.microsoft.com/office/drawing/2014/main" xmlns=""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xmlns=""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xmlns=""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xmlns=""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xmlns=""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xmlns=""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xmlns=""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xmlns=""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xmlns="" id="{21A2EF52-784B-5BFA-EB88-FB9E7588BFF8}"/>
              </a:ext>
            </a:extLst>
          </p:cNvPr>
          <p:cNvPicPr>
            <a:picLocks noChangeAspect="1"/>
          </p:cNvPicPr>
          <p:nvPr/>
        </p:nvPicPr>
        <p:blipFill>
          <a:blip r:embed="rId10"/>
          <a:srcRect b="19729"/>
          <a:stretch>
            <a:fillRect/>
          </a:stretch>
        </p:blipFill>
        <p:spPr>
          <a:xfrm>
            <a:off x="173754" y="1046557"/>
            <a:ext cx="3854253" cy="1849530"/>
          </a:xfrm>
          <a:prstGeom prst="rect">
            <a:avLst/>
          </a:prstGeom>
        </p:spPr>
      </p:pic>
    </p:spTree>
    <p:custDataLst>
      <p:tags r:id="rId1"/>
    </p:custDataLst>
    <p:extLst>
      <p:ext uri="{BB962C8B-B14F-4D97-AF65-F5344CB8AC3E}">
        <p14:creationId xmlns:p14="http://schemas.microsoft.com/office/powerpoint/2010/main" xmlns=""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xmlns=""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xmlns=""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xmlns="" id="{38849028-F25C-7DA0-DE56-0DC142EECABD}"/>
              </a:ext>
            </a:extLst>
          </p:cNvPr>
          <p:cNvSpPr txBox="1"/>
          <p:nvPr/>
        </p:nvSpPr>
        <p:spPr>
          <a:xfrm>
            <a:off x="125240" y="959476"/>
            <a:ext cx="5002346" cy="4154984"/>
          </a:xfrm>
          <a:prstGeom prst="rect">
            <a:avLst/>
          </a:prstGeom>
          <a:noFill/>
        </p:spPr>
        <p:txBody>
          <a:bodyPr wrap="square">
            <a:spAutoFit/>
          </a:bodyPr>
          <a:lstStyle/>
          <a:p>
            <a:r>
              <a:rPr lang="en-US" sz="1600" b="1" dirty="0" smtClean="0"/>
              <a:t>Project Overview:</a:t>
            </a:r>
            <a:r>
              <a:rPr lang="en-US" sz="1600" dirty="0" smtClean="0"/>
              <a:t> A data-driven analysis of bank customer demographics and account behavior to identify patterns related to customer attrition.</a:t>
            </a:r>
          </a:p>
          <a:p>
            <a:r>
              <a:rPr lang="en-US" sz="1600" b="1" dirty="0" smtClean="0"/>
              <a:t>Objective and Purpose:</a:t>
            </a:r>
            <a:r>
              <a:rPr lang="en-US" sz="1600" dirty="0" smtClean="0"/>
              <a:t> To calculate key churn metrics and identify specific risk factors to help the bank improve customer retention strategies.</a:t>
            </a:r>
          </a:p>
          <a:p>
            <a:r>
              <a:rPr lang="en-US" sz="1600" b="1" dirty="0" smtClean="0"/>
              <a:t>Tools and Technologies:</a:t>
            </a:r>
            <a:r>
              <a:rPr lang="en-US" sz="1600" dirty="0" smtClean="0"/>
              <a:t> Developed using Python for data cleaning and Microsoft Excel for creating the executive dashboard and in-depth analysis.</a:t>
            </a:r>
          </a:p>
          <a:p>
            <a:r>
              <a:rPr lang="en-US" sz="1600" b="1" dirty="0" smtClean="0"/>
              <a:t>Expected Outcomes:</a:t>
            </a:r>
            <a:r>
              <a:rPr lang="en-US" sz="1600" dirty="0" smtClean="0"/>
              <a:t> Clear visibility into churn rates across different regions and the identification of high-risk customer segments.</a:t>
            </a:r>
          </a:p>
          <a:p>
            <a:r>
              <a:rPr lang="en-US" sz="1600" b="1" dirty="0" smtClean="0"/>
              <a:t>Key Highlights:</a:t>
            </a:r>
            <a:r>
              <a:rPr lang="en-US" sz="1600" dirty="0" smtClean="0"/>
              <a:t> Discovery of significant geographic variance, such as Germany's churn rate being double that of France.</a:t>
            </a:r>
          </a:p>
          <a:p>
            <a:pPr marL="228600" indent="-228600">
              <a:spcAft>
                <a:spcPts val="800"/>
              </a:spcAft>
              <a:buFont typeface="Arial" panose="020B0604020202020204" pitchFamily="34" charset="0"/>
              <a:buChar char="•"/>
              <a:tabLst>
                <a:tab pos="4229100" algn="ctr"/>
              </a:tabLst>
            </a:pPr>
            <a:endParaRPr lang="en-US" sz="1600" dirty="0">
              <a:solidFill>
                <a:schemeClr val="tx1"/>
              </a:solidFill>
              <a:effectLst/>
              <a:latin typeface="Lato" panose="020F0502020204030203" pitchFamily="34" charset="0"/>
              <a:ea typeface="Open Sans" panose="020B0606030504020204" pitchFamily="34" charset="0"/>
              <a:cs typeface="Arial" panose="020B0604020202020204" pitchFamily="34" charset="0"/>
            </a:endParaRPr>
          </a:p>
        </p:txBody>
      </p:sp>
      <p:sp>
        <p:nvSpPr>
          <p:cNvPr id="2" name="Freeform 28">
            <a:extLst>
              <a:ext uri="{FF2B5EF4-FFF2-40B4-BE49-F238E27FC236}">
                <a16:creationId xmlns:a16="http://schemas.microsoft.com/office/drawing/2014/main" xmlns=""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xmlns="" id="{EE76AC24-5CB7-D860-6A01-E6D8ABD38610}"/>
              </a:ext>
            </a:extLst>
          </p:cNvPr>
          <p:cNvSpPr txBox="1"/>
          <p:nvPr/>
        </p:nvSpPr>
        <p:spPr>
          <a:xfrm>
            <a:off x="125240" y="1082801"/>
            <a:ext cx="4762910" cy="3816429"/>
          </a:xfrm>
          <a:prstGeom prst="rect">
            <a:avLst/>
          </a:prstGeom>
          <a:noFill/>
        </p:spPr>
        <p:txBody>
          <a:bodyPr wrap="square">
            <a:spAutoFit/>
          </a:bodyPr>
          <a:lstStyle/>
          <a:p>
            <a:r>
              <a:rPr lang="en-US" sz="1600" b="1" dirty="0" smtClean="0"/>
              <a:t>Core Problem:</a:t>
            </a:r>
            <a:r>
              <a:rPr lang="en-US" sz="1600" dirty="0" smtClean="0"/>
              <a:t> High customer turnover and the inability to pinpoint exactly why customers are leaving the bank.</a:t>
            </a:r>
          </a:p>
          <a:p>
            <a:r>
              <a:rPr lang="en-US" sz="1600" b="1" dirty="0" smtClean="0"/>
              <a:t>Significance:</a:t>
            </a:r>
            <a:r>
              <a:rPr lang="en-US" sz="1600" dirty="0" smtClean="0"/>
              <a:t> Uncontrolled churn leads to significant revenue loss and increased costs for acquiring new customers.</a:t>
            </a:r>
          </a:p>
          <a:p>
            <a:r>
              <a:rPr lang="en-US" sz="1600" b="1" dirty="0" smtClean="0"/>
              <a:t>Affected Parties:</a:t>
            </a:r>
            <a:r>
              <a:rPr lang="en-US" sz="1600" dirty="0" smtClean="0"/>
              <a:t> Bank management and customer success teams focused on long-term growth and stability.</a:t>
            </a:r>
          </a:p>
          <a:p>
            <a:r>
              <a:rPr lang="en-US" sz="1600" b="1" dirty="0" smtClean="0"/>
              <a:t>Existing Limitations:</a:t>
            </a:r>
            <a:r>
              <a:rPr lang="en-US" sz="1600" dirty="0" smtClean="0"/>
              <a:t> General reports often miss hidden correlations, such as the 32% churn rate specific to the German market.</a:t>
            </a:r>
          </a:p>
          <a:p>
            <a:r>
              <a:rPr lang="en-US" sz="1600" b="1" dirty="0" smtClean="0"/>
              <a:t>Scope:</a:t>
            </a:r>
            <a:r>
              <a:rPr lang="en-US" sz="1600" dirty="0" smtClean="0"/>
              <a:t> Analysis is strictly focused on account behavior and demographics across France, Germany, and Spain.</a:t>
            </a:r>
          </a:p>
          <a:p>
            <a:pPr marL="228600" indent="-228600">
              <a:spcAft>
                <a:spcPts val="800"/>
              </a:spcAft>
              <a:tabLst>
                <a:tab pos="4229100" algn="ctr"/>
              </a:tabLst>
            </a:pPr>
            <a:endParaRPr lang="en-US" sz="1600" dirty="0">
              <a:latin typeface="Lato" panose="020F0502020204030203" pitchFamily="34" charset="0"/>
              <a:ea typeface="+mn-lt"/>
              <a:cs typeface="Arial" panose="020B0604020202020204" pitchFamily="3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416154" cy="3474720"/>
          </a:xfrm>
          <a:prstGeom prst="rect">
            <a:avLst/>
          </a:prstGeom>
          <a:noFill/>
          <a:ln/>
        </p:spPr>
        <p:txBody>
          <a:bodyPr wrap="square" rtlCol="0" anchor="t"/>
          <a:lstStyle/>
          <a:p>
            <a:r>
              <a:rPr lang="en-US" sz="1400" b="1" dirty="0" smtClean="0"/>
              <a:t>Proposed Solution:</a:t>
            </a:r>
            <a:r>
              <a:rPr lang="en-US" sz="1400" dirty="0" smtClean="0"/>
              <a:t> An automated diagnostic dashboard that identifies churn patterns across geography, credit scores, and age demographics.</a:t>
            </a:r>
          </a:p>
          <a:p>
            <a:r>
              <a:rPr lang="en-US" sz="1400" b="1" dirty="0" smtClean="0"/>
              <a:t>Problem Resolution:</a:t>
            </a:r>
            <a:r>
              <a:rPr lang="en-US" sz="1400" dirty="0" smtClean="0"/>
              <a:t> It converts raw data into actionable insights, allowing management to visualize exactly where churn is highest, such as in Germany.</a:t>
            </a:r>
          </a:p>
          <a:p>
            <a:r>
              <a:rPr lang="en-US" sz="1400" b="1" dirty="0" smtClean="0"/>
              <a:t>Methodology:</a:t>
            </a:r>
            <a:r>
              <a:rPr lang="en-US" sz="1400" dirty="0" smtClean="0"/>
              <a:t> The process involved cleaning raw datasets, performing a segmented churn analysis, and creating an executive-level summary report.</a:t>
            </a:r>
          </a:p>
          <a:p>
            <a:r>
              <a:rPr lang="en-US" sz="1400" b="1" dirty="0" smtClean="0"/>
              <a:t>Tools:</a:t>
            </a:r>
            <a:r>
              <a:rPr lang="en-US" sz="1400" dirty="0" smtClean="0"/>
              <a:t> Python was utilized for data preparation and cleaning, while Excel served as the primary tool for visualization and </a:t>
            </a:r>
            <a:r>
              <a:rPr lang="en-US" sz="1400" dirty="0" err="1" smtClean="0"/>
              <a:t>dashboarding</a:t>
            </a:r>
            <a:r>
              <a:rPr lang="en-US" sz="1400" dirty="0" smtClean="0"/>
              <a:t>.</a:t>
            </a:r>
          </a:p>
          <a:p>
            <a:r>
              <a:rPr lang="en-US" sz="1400" b="1" dirty="0" smtClean="0"/>
              <a:t>Key Benefits/Innovation:</a:t>
            </a:r>
            <a:r>
              <a:rPr lang="en-US" sz="1400" dirty="0" smtClean="0"/>
              <a:t> Unlike static reports, this approach provides a segmented view that highlights specific regional vulnerabilities, offering more precise targeting for retention.</a:t>
            </a:r>
          </a:p>
          <a:p>
            <a:pPr marL="0" indent="0">
              <a:buNone/>
            </a:pPr>
            <a:endParaRPr lang="en-US" sz="14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r>
              <a:rPr lang="en-US" sz="1600" dirty="0" smtClean="0"/>
              <a:t>The project utilizes a raw dataset containing customer IDs, credit scores, and account details across multiple regions to perform retention analysis.</a:t>
            </a: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r>
              <a:rPr lang="en-US" sz="1600" dirty="0" smtClean="0"/>
              <a:t>The data was processed using Python to remove duplicates and handle nulls, then organized in Excel for pivot-based geographic and demographic analysis.</a:t>
            </a: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r>
              <a:rPr lang="en-US" sz="1600" dirty="0" smtClean="0"/>
              <a:t>Excel is used to host the data and create the Executive Dashboard, while AI tools assisted in generating the underlying Python cleaning scripts.</a:t>
            </a: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r>
              <a:rPr lang="en-US" sz="1600" dirty="0" smtClean="0"/>
              <a:t>The final output is a multi-sheet Excel workbook featuring an executive dashboard and in-depth churn analysis reports.</a:t>
            </a:r>
          </a:p>
          <a:p>
            <a:pPr marL="0" indent="0">
              <a:buNone/>
            </a:pP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a:t>
            </a:r>
            <a:r>
              <a:rPr lang="en-US" dirty="0" smtClean="0">
                <a:latin typeface="Lato" panose="020F0502020204030203" pitchFamily="34" charset="0"/>
                <a:ea typeface="Calibri" pitchFamily="34" charset="-122"/>
                <a:cs typeface="Arial" panose="020B0604020202020204" pitchFamily="34" charset="0"/>
              </a:rPr>
              <a:t>demo </a:t>
            </a:r>
            <a:r>
              <a:rPr lang="en-US" dirty="0">
                <a:latin typeface="Lato" panose="020F0502020204030203" pitchFamily="34" charset="0"/>
                <a:ea typeface="Calibri" pitchFamily="34" charset="-122"/>
                <a:cs typeface="Arial" panose="020B0604020202020204" pitchFamily="34" charset="0"/>
              </a:rPr>
              <a:t>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algn="ctr"/>
            <a:r>
              <a:rPr lang="en-US" sz="1600" dirty="0" smtClean="0"/>
              <a:t>Demo 1 showcases an interactive dashboard that highlights geographic churn hotspots, specifically identifying a critical 32% attrition rate in Germany.</a:t>
            </a: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algn="ctr"/>
            <a:r>
              <a:rPr lang="en-US" sz="1600" dirty="0" smtClean="0"/>
              <a:t>Demo 2 features a deep-dive analysis comparing active versus inactive members to pinpoint service engagement levels that lead to higher customer retention.</a:t>
            </a: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algn="ctr"/>
            <a:r>
              <a:rPr lang="en-US" sz="1600" dirty="0" smtClean="0"/>
              <a:t>Demo 3 illustrates the relationship between credit scores and account balances, revealing how financial health impacts a customer's decision to exit.</a:t>
            </a: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endParaRPr lang="en-US" sz="2200" dirty="0"/>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endParaRPr lang="en-US" sz="900" dirty="0"/>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endParaRPr lang="en-US" sz="1100" dirty="0"/>
          </a:p>
        </p:txBody>
      </p:sp>
      <p:pic>
        <p:nvPicPr>
          <p:cNvPr id="16" name="Picture 15" descr="Screenshot 2026-05-03 135203.png"/>
          <p:cNvPicPr>
            <a:picLocks noChangeAspect="1"/>
          </p:cNvPicPr>
          <p:nvPr/>
        </p:nvPicPr>
        <p:blipFill>
          <a:blip r:embed="rId4"/>
          <a:stretch>
            <a:fillRect/>
          </a:stretch>
        </p:blipFill>
        <p:spPr>
          <a:xfrm>
            <a:off x="0" y="500533"/>
            <a:ext cx="9144000" cy="4142434"/>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a:ln/>
        </p:spPr>
        <p:txBody>
          <a:bodyPr wrap="square" rtlCol="0" anchor="t"/>
          <a:lstStyle/>
          <a:p>
            <a:r>
              <a:rPr lang="en-US" dirty="0" smtClean="0"/>
              <a:t>The project successfully identified key churn drivers, revealing a high </a:t>
            </a:r>
            <a:r>
              <a:rPr lang="en-US" b="1" dirty="0" smtClean="0"/>
              <a:t>32.4%</a:t>
            </a:r>
            <a:r>
              <a:rPr lang="en-US" dirty="0" smtClean="0"/>
              <a:t> churn rate in Germany and demonstrating that active membership significantly improves retention. By achieving the objective of converting raw customer data into actionable insights, this work adds value to the banking domain by providing a targeted framework for reducing attrition and protecting revenue.</a:t>
            </a: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xmlns=""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xmlns="" id="{412449DB-BF51-DAAE-EA83-F4C008967631}"/>
              </a:ext>
            </a:extLst>
          </p:cNvPr>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4631635" y="879613"/>
            <a:ext cx="4512365" cy="3384274"/>
          </a:xfrm>
          <a:prstGeom prst="rect">
            <a:avLst/>
          </a:prstGeom>
        </p:spPr>
      </p:pic>
      <p:sp>
        <p:nvSpPr>
          <p:cNvPr id="5" name="Rectangle 4"/>
          <p:cNvSpPr/>
          <p:nvPr/>
        </p:nvSpPr>
        <p:spPr>
          <a:xfrm>
            <a:off x="373487" y="1263615"/>
            <a:ext cx="4572000" cy="3293209"/>
          </a:xfrm>
          <a:prstGeom prst="rect">
            <a:avLst/>
          </a:prstGeom>
        </p:spPr>
        <p:txBody>
          <a:bodyPr wrap="square">
            <a:spAutoFit/>
          </a:bodyPr>
          <a:lstStyle/>
          <a:p>
            <a:endParaRPr lang="en-US" sz="1600" dirty="0" smtClean="0"/>
          </a:p>
          <a:p>
            <a:r>
              <a:rPr lang="en-US" sz="1600" b="1" dirty="0" smtClean="0"/>
              <a:t>Predictive Modeling</a:t>
            </a:r>
            <a:r>
              <a:rPr lang="en-US" sz="1600" dirty="0" smtClean="0"/>
              <a:t>: Implement machine learning algorithms to predict individual customer churn probability based on historical patterns.</a:t>
            </a:r>
          </a:p>
          <a:p>
            <a:r>
              <a:rPr lang="en-US" sz="1600" b="1" dirty="0" smtClean="0"/>
              <a:t>Dynamic Dashboards</a:t>
            </a:r>
            <a:r>
              <a:rPr lang="en-US" sz="1600" dirty="0" smtClean="0"/>
              <a:t>: Transition from static Excel reports to a live Power BI or Tableau dashboard for real-time monitoring of churn KPIs.</a:t>
            </a:r>
          </a:p>
          <a:p>
            <a:r>
              <a:rPr lang="en-US" sz="1600" b="1" dirty="0" smtClean="0"/>
              <a:t>Segment Expansion</a:t>
            </a:r>
            <a:r>
              <a:rPr lang="en-US" sz="1600" dirty="0" smtClean="0"/>
              <a:t>: Broaden the research scope beyond France, Germany, and Spain to include a global dataset for broader market insights.</a:t>
            </a:r>
          </a:p>
          <a:p>
            <a:r>
              <a:rPr lang="en-US" sz="1600" b="1" dirty="0" smtClean="0"/>
              <a:t>Integration</a:t>
            </a:r>
            <a:r>
              <a:rPr lang="en-US" sz="1600" dirty="0" smtClean="0"/>
              <a:t>: Connect the analysis tool directly to the bank’s CRM database to automate data cleaning and provide immediate retention alerts.</a:t>
            </a:r>
            <a:endParaRPr lang="en-US" sz="1600" dirty="0"/>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xmlns=""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901</TotalTime>
  <Words>728</Words>
  <Application>Microsoft Office PowerPoint</Application>
  <PresentationFormat>On-screen Show (16:9)</PresentationFormat>
  <Paragraphs>73</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Isha Sajwan</cp:lastModifiedBy>
  <cp:revision>30</cp:revision>
  <dcterms:created xsi:type="dcterms:W3CDTF">2026-02-18T09:17:23Z</dcterms:created>
  <dcterms:modified xsi:type="dcterms:W3CDTF">2026-05-03T08:23:28Z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